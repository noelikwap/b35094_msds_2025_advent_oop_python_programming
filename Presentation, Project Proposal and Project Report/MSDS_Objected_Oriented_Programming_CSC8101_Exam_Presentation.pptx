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8" r:id="rId3"/>
    <p:sldId id="259" r:id="rId4"/>
    <p:sldId id="260" r:id="rId5"/>
    <p:sldId id="261" r:id="rId6"/>
    <p:sldId id="262" r:id="rId7"/>
    <p:sldId id="263" r:id="rId8"/>
    <p:sldId id="264" r:id="rId9"/>
    <p:sldId id="265" r:id="rId10"/>
    <p:sldId id="266" r:id="rId11"/>
    <p:sldId id="273" r:id="rId12"/>
  </p:sldIdLst>
  <p:sldSz cx="12192000" cy="6858000"/>
  <p:notesSz cx="6858000" cy="9144000"/>
  <p:embeddedFontLst>
    <p:embeddedFont>
      <p:font typeface="Trebuchet MS" panose="020B0603020202020204" pitchFamily="34"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3" roundtripDataSignature="AMtx7mgJvJnrURguZIAuG1idm1f3kp5Om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843"/>
    <p:restoredTop sz="94778"/>
  </p:normalViewPr>
  <p:slideViewPr>
    <p:cSldViewPr snapToGrid="0">
      <p:cViewPr varScale="1">
        <p:scale>
          <a:sx n="75" d="100"/>
          <a:sy n="75" d="100"/>
        </p:scale>
        <p:origin x="62"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10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103"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3.fntdata"/><Relationship Id="rId107"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6"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10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G"/>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UG"/>
          </a:p>
        </p:txBody>
      </p:sp>
      <p:sp>
        <p:nvSpPr>
          <p:cNvPr id="97" name="Google Shape;9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GB"/>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1F497D"/>
              </a:buClr>
              <a:buSzPts val="6000"/>
              <a:buFont typeface="Trebuchet M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SzPts val="2400"/>
              <a:buNone/>
              <a:defRPr sz="2400"/>
            </a:lvl1pPr>
            <a:lvl2pPr lvl="1" algn="ctr">
              <a:lnSpc>
                <a:spcPct val="90000"/>
              </a:lnSpc>
              <a:spcBef>
                <a:spcPts val="500"/>
              </a:spcBef>
              <a:spcAft>
                <a:spcPts val="0"/>
              </a:spcAft>
              <a:buSzPts val="1900"/>
              <a:buNone/>
              <a:defRPr sz="2000"/>
            </a:lvl2pPr>
            <a:lvl3pPr lvl="2" algn="ctr">
              <a:lnSpc>
                <a:spcPct val="90000"/>
              </a:lnSpc>
              <a:spcBef>
                <a:spcPts val="500"/>
              </a:spcBef>
              <a:spcAft>
                <a:spcPts val="0"/>
              </a:spcAft>
              <a:buSzPts val="1620"/>
              <a:buNone/>
              <a:defRPr sz="1800"/>
            </a:lvl3pPr>
            <a:lvl4pPr lvl="3" algn="ctr">
              <a:lnSpc>
                <a:spcPct val="90000"/>
              </a:lnSpc>
              <a:spcBef>
                <a:spcPts val="500"/>
              </a:spcBef>
              <a:spcAft>
                <a:spcPts val="0"/>
              </a:spcAft>
              <a:buSzPts val="1408"/>
              <a:buNone/>
              <a:defRPr sz="1600"/>
            </a:lvl4pPr>
            <a:lvl5pPr lvl="4" algn="ctr">
              <a:lnSpc>
                <a:spcPct val="90000"/>
              </a:lnSpc>
              <a:spcBef>
                <a:spcPts val="500"/>
              </a:spcBef>
              <a:spcAft>
                <a:spcPts val="0"/>
              </a:spcAft>
              <a:buSzPts val="1376"/>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 name="Google Shape;25;p11"/>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1"/>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1"/>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72"/>
        <p:cNvGrpSpPr/>
        <p:nvPr/>
      </p:nvGrpSpPr>
      <p:grpSpPr>
        <a:xfrm>
          <a:off x="0" y="0"/>
          <a:ext cx="0" cy="0"/>
          <a:chOff x="0" y="0"/>
          <a:chExt cx="0" cy="0"/>
        </a:xfrm>
      </p:grpSpPr>
      <p:sp>
        <p:nvSpPr>
          <p:cNvPr id="73" name="Google Shape;73;p19"/>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F497D"/>
              </a:buClr>
              <a:buSzPts val="6000"/>
              <a:buFont typeface="Trebuchet M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9"/>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SzPts val="2400"/>
              <a:buNone/>
              <a:defRPr sz="2400">
                <a:solidFill>
                  <a:srgbClr val="888888"/>
                </a:solidFill>
              </a:defRPr>
            </a:lvl1pPr>
            <a:lvl2pPr marL="914400" lvl="1" indent="-228600" algn="l">
              <a:lnSpc>
                <a:spcPct val="90000"/>
              </a:lnSpc>
              <a:spcBef>
                <a:spcPts val="500"/>
              </a:spcBef>
              <a:spcAft>
                <a:spcPts val="0"/>
              </a:spcAft>
              <a:buSzPts val="1900"/>
              <a:buNone/>
              <a:defRPr sz="2000">
                <a:solidFill>
                  <a:srgbClr val="888888"/>
                </a:solidFill>
              </a:defRPr>
            </a:lvl2pPr>
            <a:lvl3pPr marL="1371600" lvl="2" indent="-228600" algn="l">
              <a:lnSpc>
                <a:spcPct val="90000"/>
              </a:lnSpc>
              <a:spcBef>
                <a:spcPts val="500"/>
              </a:spcBef>
              <a:spcAft>
                <a:spcPts val="0"/>
              </a:spcAft>
              <a:buSzPts val="1620"/>
              <a:buNone/>
              <a:defRPr sz="1800">
                <a:solidFill>
                  <a:srgbClr val="888888"/>
                </a:solidFill>
              </a:defRPr>
            </a:lvl3pPr>
            <a:lvl4pPr marL="1828800" lvl="3" indent="-228600" algn="l">
              <a:lnSpc>
                <a:spcPct val="90000"/>
              </a:lnSpc>
              <a:spcBef>
                <a:spcPts val="500"/>
              </a:spcBef>
              <a:spcAft>
                <a:spcPts val="0"/>
              </a:spcAft>
              <a:buSzPts val="1408"/>
              <a:buNone/>
              <a:defRPr sz="1600">
                <a:solidFill>
                  <a:srgbClr val="888888"/>
                </a:solidFill>
              </a:defRPr>
            </a:lvl4pPr>
            <a:lvl5pPr marL="2286000" lvl="4" indent="-228600" algn="l">
              <a:lnSpc>
                <a:spcPct val="90000"/>
              </a:lnSpc>
              <a:spcBef>
                <a:spcPts val="500"/>
              </a:spcBef>
              <a:spcAft>
                <a:spcPts val="0"/>
              </a:spcAft>
              <a:buSzPts val="1376"/>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75" name="Google Shape;75;p19"/>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9"/>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9"/>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497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0"/>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0"/>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0"/>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3"/>
        <p:cNvGrpSpPr/>
        <p:nvPr/>
      </p:nvGrpSpPr>
      <p:grpSpPr>
        <a:xfrm>
          <a:off x="0" y="0"/>
          <a:ext cx="0" cy="0"/>
          <a:chOff x="0" y="0"/>
          <a:chExt cx="0" cy="0"/>
        </a:xfrm>
      </p:grpSpPr>
      <p:sp>
        <p:nvSpPr>
          <p:cNvPr id="84" name="Google Shape;84;p21"/>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497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1"/>
          <p:cNvSpPr txBox="1">
            <a:spLocks noGrp="1"/>
          </p:cNvSpPr>
          <p:nvPr>
            <p:ph type="body" idx="1"/>
          </p:nvPr>
        </p:nvSpPr>
        <p:spPr>
          <a:xfrm rot="5400000">
            <a:off x="3851275" y="-1325561"/>
            <a:ext cx="448945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37185" algn="l">
              <a:lnSpc>
                <a:spcPct val="90000"/>
              </a:lnSpc>
              <a:spcBef>
                <a:spcPts val="500"/>
              </a:spcBef>
              <a:spcAft>
                <a:spcPts val="0"/>
              </a:spcAft>
              <a:buSzPts val="1710"/>
              <a:buChar char="❑"/>
              <a:defRPr/>
            </a:lvl2pPr>
            <a:lvl3pPr marL="1371600" lvl="2" indent="-331469" algn="l">
              <a:lnSpc>
                <a:spcPct val="90000"/>
              </a:lnSpc>
              <a:spcBef>
                <a:spcPts val="500"/>
              </a:spcBef>
              <a:spcAft>
                <a:spcPts val="0"/>
              </a:spcAft>
              <a:buSzPts val="1620"/>
              <a:buChar char="❑"/>
              <a:defRPr/>
            </a:lvl3pPr>
            <a:lvl4pPr marL="1828800" lvl="3" indent="-329183" algn="l">
              <a:lnSpc>
                <a:spcPct val="90000"/>
              </a:lnSpc>
              <a:spcBef>
                <a:spcPts val="500"/>
              </a:spcBef>
              <a:spcAft>
                <a:spcPts val="0"/>
              </a:spcAft>
              <a:buSzPts val="1584"/>
              <a:buChar char="❑"/>
              <a:defRPr/>
            </a:lvl4pPr>
            <a:lvl5pPr marL="2286000" lvl="4" indent="-326898" algn="l">
              <a:lnSpc>
                <a:spcPct val="90000"/>
              </a:lnSpc>
              <a:spcBef>
                <a:spcPts val="500"/>
              </a:spcBef>
              <a:spcAft>
                <a:spcPts val="0"/>
              </a:spcAft>
              <a:buSzPts val="1548"/>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21"/>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21"/>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1"/>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9"/>
        <p:cNvGrpSpPr/>
        <p:nvPr/>
      </p:nvGrpSpPr>
      <p:grpSpPr>
        <a:xfrm>
          <a:off x="0" y="0"/>
          <a:ext cx="0" cy="0"/>
          <a:chOff x="0" y="0"/>
          <a:chExt cx="0" cy="0"/>
        </a:xfrm>
      </p:grpSpPr>
      <p:sp>
        <p:nvSpPr>
          <p:cNvPr id="90" name="Google Shape;90;p2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1F497D"/>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SzPts val="1800"/>
              <a:buChar char="❑"/>
              <a:defRPr/>
            </a:lvl1pPr>
            <a:lvl2pPr marL="914400" lvl="1" indent="-337185" algn="l">
              <a:lnSpc>
                <a:spcPct val="90000"/>
              </a:lnSpc>
              <a:spcBef>
                <a:spcPts val="500"/>
              </a:spcBef>
              <a:spcAft>
                <a:spcPts val="0"/>
              </a:spcAft>
              <a:buSzPts val="1710"/>
              <a:buChar char="❑"/>
              <a:defRPr/>
            </a:lvl2pPr>
            <a:lvl3pPr marL="1371600" lvl="2" indent="-331469" algn="l">
              <a:lnSpc>
                <a:spcPct val="90000"/>
              </a:lnSpc>
              <a:spcBef>
                <a:spcPts val="500"/>
              </a:spcBef>
              <a:spcAft>
                <a:spcPts val="0"/>
              </a:spcAft>
              <a:buSzPts val="1620"/>
              <a:buChar char="❑"/>
              <a:defRPr/>
            </a:lvl3pPr>
            <a:lvl4pPr marL="1828800" lvl="3" indent="-329183" algn="l">
              <a:lnSpc>
                <a:spcPct val="90000"/>
              </a:lnSpc>
              <a:spcBef>
                <a:spcPts val="500"/>
              </a:spcBef>
              <a:spcAft>
                <a:spcPts val="0"/>
              </a:spcAft>
              <a:buSzPts val="1584"/>
              <a:buChar char="❑"/>
              <a:defRPr/>
            </a:lvl4pPr>
            <a:lvl5pPr marL="2286000" lvl="4" indent="-326898" algn="l">
              <a:lnSpc>
                <a:spcPct val="90000"/>
              </a:lnSpc>
              <a:spcBef>
                <a:spcPts val="500"/>
              </a:spcBef>
              <a:spcAft>
                <a:spcPts val="0"/>
              </a:spcAft>
              <a:buSzPts val="1548"/>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22"/>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22"/>
          <p:cNvSpPr txBox="1">
            <a:spLocks noGrp="1"/>
          </p:cNvSpPr>
          <p:nvPr>
            <p:ph type="ftr" idx="11"/>
          </p:nvPr>
        </p:nvSpPr>
        <p:spPr>
          <a:xfrm>
            <a:off x="2116899" y="6356350"/>
            <a:ext cx="8129391"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22"/>
          <p:cNvSpPr txBox="1">
            <a:spLocks noGrp="1"/>
          </p:cNvSpPr>
          <p:nvPr>
            <p:ph type="sldNum" idx="12"/>
          </p:nvPr>
        </p:nvSpPr>
        <p:spPr>
          <a:xfrm>
            <a:off x="10809962" y="6356350"/>
            <a:ext cx="54383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12/12/2025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309117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hyperlink" Target="http://www.ucu.ac.ug/" TargetMode="External"/><Relationship Id="rId4" Type="http://schemas.openxmlformats.org/officeDocument/2006/relationships/slideLayout" Target="../slideLayouts/slideLayout4.xml"/><Relationship Id="rId9" Type="http://schemas.openxmlformats.org/officeDocument/2006/relationships/hyperlink" Target="mailto:info@ucu.ac.ug"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0"/>
          <p:cNvPicPr preferRelativeResize="0"/>
          <p:nvPr/>
        </p:nvPicPr>
        <p:blipFill rotWithShape="1">
          <a:blip r:embed="rId8">
            <a:alphaModFix/>
          </a:blip>
          <a:srcRect/>
          <a:stretch/>
        </p:blipFill>
        <p:spPr>
          <a:xfrm>
            <a:off x="9776791" y="0"/>
            <a:ext cx="2415209" cy="735885"/>
          </a:xfrm>
          <a:prstGeom prst="rect">
            <a:avLst/>
          </a:prstGeom>
          <a:noFill/>
          <a:ln>
            <a:noFill/>
          </a:ln>
        </p:spPr>
      </p:pic>
      <p:sp>
        <p:nvSpPr>
          <p:cNvPr id="11" name="Google Shape;11;p10"/>
          <p:cNvSpPr txBox="1">
            <a:spLocks noGrp="1"/>
          </p:cNvSpPr>
          <p:nvPr>
            <p:ph type="title"/>
          </p:nvPr>
        </p:nvSpPr>
        <p:spPr>
          <a:xfrm>
            <a:off x="838200" y="365126"/>
            <a:ext cx="10515600" cy="11430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F497D"/>
              </a:buClr>
              <a:buSzPts val="4400"/>
              <a:buFont typeface="Trebuchet MS"/>
              <a:buNone/>
              <a:defRPr sz="4400" b="0" i="0" u="none" strike="noStrike" cap="none">
                <a:solidFill>
                  <a:srgbClr val="1F497D"/>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0"/>
          <p:cNvSpPr txBox="1">
            <a:spLocks noGrp="1"/>
          </p:cNvSpPr>
          <p:nvPr>
            <p:ph type="body" idx="1"/>
          </p:nvPr>
        </p:nvSpPr>
        <p:spPr>
          <a:xfrm>
            <a:off x="838200" y="1687514"/>
            <a:ext cx="10515600" cy="448945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rgbClr val="D7014D"/>
              </a:buClr>
              <a:buSzPts val="2800"/>
              <a:buFont typeface="Noto Sans Symbols"/>
              <a:buChar char="❑"/>
              <a:defRPr sz="2800" b="0" i="0" u="none" strike="noStrike" cap="none">
                <a:solidFill>
                  <a:schemeClr val="dk1"/>
                </a:solidFill>
                <a:latin typeface="Trebuchet MS"/>
                <a:ea typeface="Trebuchet MS"/>
                <a:cs typeface="Trebuchet MS"/>
                <a:sym typeface="Trebuchet MS"/>
              </a:defRPr>
            </a:lvl1pPr>
            <a:lvl2pPr marL="914400" marR="0" lvl="1" indent="-373380" algn="l" rtl="0">
              <a:lnSpc>
                <a:spcPct val="90000"/>
              </a:lnSpc>
              <a:spcBef>
                <a:spcPts val="500"/>
              </a:spcBef>
              <a:spcAft>
                <a:spcPts val="0"/>
              </a:spcAft>
              <a:buClr>
                <a:srgbClr val="0B3D91"/>
              </a:buClr>
              <a:buSzPts val="2280"/>
              <a:buFont typeface="Noto Sans Symbols"/>
              <a:buChar char="❑"/>
              <a:defRPr sz="2400" b="0" i="0" u="none" strike="noStrike" cap="none">
                <a:solidFill>
                  <a:schemeClr val="dk1"/>
                </a:solidFill>
                <a:latin typeface="Trebuchet MS"/>
                <a:ea typeface="Trebuchet MS"/>
                <a:cs typeface="Trebuchet MS"/>
                <a:sym typeface="Trebuchet MS"/>
              </a:defRPr>
            </a:lvl2pPr>
            <a:lvl3pPr marL="1371600" marR="0" lvl="2" indent="-342900" algn="l" rtl="0">
              <a:lnSpc>
                <a:spcPct val="90000"/>
              </a:lnSpc>
              <a:spcBef>
                <a:spcPts val="500"/>
              </a:spcBef>
              <a:spcAft>
                <a:spcPts val="0"/>
              </a:spcAft>
              <a:buClr>
                <a:srgbClr val="D70167"/>
              </a:buClr>
              <a:buSzPts val="1800"/>
              <a:buFont typeface="Noto Sans Symbols"/>
              <a:buChar char="❑"/>
              <a:defRPr sz="2000" b="0" i="0" u="none" strike="noStrike" cap="none">
                <a:solidFill>
                  <a:schemeClr val="dk1"/>
                </a:solidFill>
                <a:latin typeface="Trebuchet MS"/>
                <a:ea typeface="Trebuchet MS"/>
                <a:cs typeface="Trebuchet MS"/>
                <a:sym typeface="Trebuchet MS"/>
              </a:defRPr>
            </a:lvl3pPr>
            <a:lvl4pPr marL="1828800" marR="0" lvl="3" indent="-329183" algn="l" rtl="0">
              <a:lnSpc>
                <a:spcPct val="90000"/>
              </a:lnSpc>
              <a:spcBef>
                <a:spcPts val="500"/>
              </a:spcBef>
              <a:spcAft>
                <a:spcPts val="0"/>
              </a:spcAft>
              <a:buClr>
                <a:srgbClr val="D70167"/>
              </a:buClr>
              <a:buSzPts val="1584"/>
              <a:buFont typeface="Noto Sans Symbols"/>
              <a:buChar char="❑"/>
              <a:defRPr sz="1800" b="0" i="0" u="none" strike="noStrike" cap="none">
                <a:solidFill>
                  <a:schemeClr val="dk1"/>
                </a:solidFill>
                <a:latin typeface="Trebuchet MS"/>
                <a:ea typeface="Trebuchet MS"/>
                <a:cs typeface="Trebuchet MS"/>
                <a:sym typeface="Trebuchet MS"/>
              </a:defRPr>
            </a:lvl4pPr>
            <a:lvl5pPr marL="2286000" marR="0" lvl="4" indent="-326898" algn="l" rtl="0">
              <a:lnSpc>
                <a:spcPct val="90000"/>
              </a:lnSpc>
              <a:spcBef>
                <a:spcPts val="500"/>
              </a:spcBef>
              <a:spcAft>
                <a:spcPts val="0"/>
              </a:spcAft>
              <a:buClr>
                <a:srgbClr val="007931"/>
              </a:buClr>
              <a:buSzPts val="1548"/>
              <a:buFont typeface="Noto Sans Symbols"/>
              <a:buChar char="❑"/>
              <a:defRPr sz="1800" b="0" i="0" u="none" strike="noStrike" cap="none">
                <a:solidFill>
                  <a:schemeClr val="dk1"/>
                </a:solidFill>
                <a:latin typeface="Trebuchet MS"/>
                <a:ea typeface="Trebuchet MS"/>
                <a:cs typeface="Trebuchet MS"/>
                <a:sym typeface="Trebuchet M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rebuchet MS"/>
                <a:ea typeface="Trebuchet MS"/>
                <a:cs typeface="Trebuchet MS"/>
                <a:sym typeface="Trebuchet MS"/>
              </a:defRPr>
            </a:lvl9pPr>
          </a:lstStyle>
          <a:p>
            <a:endParaRPr/>
          </a:p>
        </p:txBody>
      </p:sp>
      <p:sp>
        <p:nvSpPr>
          <p:cNvPr id="13" name="Google Shape;13;p10"/>
          <p:cNvSpPr/>
          <p:nvPr/>
        </p:nvSpPr>
        <p:spPr>
          <a:xfrm>
            <a:off x="838200" y="1508126"/>
            <a:ext cx="11353800" cy="179387"/>
          </a:xfrm>
          <a:prstGeom prst="rect">
            <a:avLst/>
          </a:prstGeom>
          <a:solidFill>
            <a:srgbClr val="0B3D9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4" name="Google Shape;14;p10"/>
          <p:cNvSpPr/>
          <p:nvPr/>
        </p:nvSpPr>
        <p:spPr>
          <a:xfrm>
            <a:off x="0" y="1508126"/>
            <a:ext cx="838200" cy="179387"/>
          </a:xfrm>
          <a:prstGeom prst="rect">
            <a:avLst/>
          </a:prstGeom>
          <a:solidFill>
            <a:srgbClr val="D7014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5" name="Google Shape;15;p10"/>
          <p:cNvSpPr/>
          <p:nvPr/>
        </p:nvSpPr>
        <p:spPr>
          <a:xfrm>
            <a:off x="838200" y="1508125"/>
            <a:ext cx="838200" cy="179387"/>
          </a:xfrm>
          <a:prstGeom prst="rect">
            <a:avLst/>
          </a:prstGeom>
          <a:solidFill>
            <a:srgbClr val="FFD93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Trebuchet MS"/>
              <a:ea typeface="Trebuchet MS"/>
              <a:cs typeface="Trebuchet MS"/>
              <a:sym typeface="Trebuchet MS"/>
            </a:endParaRPr>
          </a:p>
        </p:txBody>
      </p:sp>
      <p:sp>
        <p:nvSpPr>
          <p:cNvPr id="16" name="Google Shape;16;p10"/>
          <p:cNvSpPr txBox="1">
            <a:spLocks noGrp="1"/>
          </p:cNvSpPr>
          <p:nvPr>
            <p:ph type="dt" idx="10"/>
          </p:nvPr>
        </p:nvSpPr>
        <p:spPr>
          <a:xfrm>
            <a:off x="838200" y="6356350"/>
            <a:ext cx="1028178"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17" name="Google Shape;17;p10"/>
          <p:cNvSpPr txBox="1">
            <a:spLocks noGrp="1"/>
          </p:cNvSpPr>
          <p:nvPr>
            <p:ph type="ftr" idx="11"/>
          </p:nvPr>
        </p:nvSpPr>
        <p:spPr>
          <a:xfrm>
            <a:off x="2116899" y="6251714"/>
            <a:ext cx="8129391" cy="469762"/>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Trebuchet MS"/>
                <a:ea typeface="Trebuchet MS"/>
                <a:cs typeface="Trebuchet MS"/>
                <a:sym typeface="Trebuchet M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18" name="Google Shape;18;p10"/>
          <p:cNvSpPr txBox="1"/>
          <p:nvPr/>
        </p:nvSpPr>
        <p:spPr>
          <a:xfrm>
            <a:off x="2116899" y="6356350"/>
            <a:ext cx="7517429"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850"/>
              <a:buFont typeface="Arial"/>
              <a:buNone/>
            </a:pPr>
            <a:r>
              <a:rPr lang="en-GB" sz="850" b="1" i="0" u="none" strike="noStrike" cap="none">
                <a:solidFill>
                  <a:srgbClr val="0B3D91"/>
                </a:solidFill>
                <a:latin typeface="Trebuchet MS"/>
                <a:ea typeface="Trebuchet MS"/>
                <a:cs typeface="Trebuchet MS"/>
                <a:sym typeface="Trebuchet MS"/>
              </a:rPr>
              <a:t>A Complete Education for A Complete Person</a:t>
            </a:r>
            <a:br>
              <a:rPr lang="en-GB" sz="700" b="0" i="0" u="none" strike="noStrike" cap="none">
                <a:solidFill>
                  <a:schemeClr val="dk1"/>
                </a:solidFill>
                <a:latin typeface="Trebuchet MS"/>
                <a:ea typeface="Trebuchet MS"/>
                <a:cs typeface="Trebuchet MS"/>
                <a:sym typeface="Trebuchet MS"/>
              </a:rPr>
            </a:br>
            <a:r>
              <a:rPr lang="en-GB" sz="700" b="0" i="0" u="none" strike="noStrike" cap="none">
                <a:solidFill>
                  <a:schemeClr val="dk1"/>
                </a:solidFill>
                <a:latin typeface="Trebuchet MS"/>
                <a:ea typeface="Trebuchet MS"/>
                <a:cs typeface="Trebuchet MS"/>
                <a:sym typeface="Trebuchet MS"/>
              </a:rPr>
              <a:t>P.O. Box 4, Mukono, Uganda, Plot 67-173, Bishop Tucker Road, Mukono Hill | Tel: +256 (0) 312 350 800 Email: </a:t>
            </a:r>
            <a:r>
              <a:rPr lang="en-GB" sz="700" b="0" i="0" u="sng" strike="noStrike" cap="none">
                <a:solidFill>
                  <a:srgbClr val="0000FF"/>
                </a:solidFill>
                <a:latin typeface="Trebuchet MS"/>
                <a:ea typeface="Trebuchet MS"/>
                <a:cs typeface="Trebuchet MS"/>
                <a:sym typeface="Trebuchet MS"/>
                <a:hlinkClick r:id="rId9">
                  <a:extLst>
                    <a:ext uri="{A12FA001-AC4F-418D-AE19-62706E023703}">
                      <ahyp:hlinkClr xmlns:ahyp="http://schemas.microsoft.com/office/drawing/2018/hyperlinkcolor" val="tx"/>
                    </a:ext>
                  </a:extLst>
                </a:hlinkClick>
              </a:rPr>
              <a:t>info@ucu.ac.ug</a:t>
            </a:r>
            <a:r>
              <a:rPr lang="en-GB" sz="700" b="0" i="0" u="none" strike="noStrike" cap="none">
                <a:solidFill>
                  <a:srgbClr val="0000FF"/>
                </a:solidFill>
                <a:latin typeface="Trebuchet MS"/>
                <a:ea typeface="Trebuchet MS"/>
                <a:cs typeface="Trebuchet MS"/>
                <a:sym typeface="Trebuchet MS"/>
              </a:rPr>
              <a:t> </a:t>
            </a:r>
            <a:r>
              <a:rPr lang="en-GB" sz="700" b="0" i="0" u="none" strike="noStrike" cap="none">
                <a:solidFill>
                  <a:schemeClr val="dk1"/>
                </a:solidFill>
                <a:latin typeface="Trebuchet MS"/>
                <a:ea typeface="Trebuchet MS"/>
                <a:cs typeface="Trebuchet MS"/>
                <a:sym typeface="Trebuchet MS"/>
              </a:rPr>
              <a:t>Web: </a:t>
            </a:r>
            <a:r>
              <a:rPr lang="en-GB" sz="700" b="0" i="0" u="sng" strike="noStrike" cap="none">
                <a:solidFill>
                  <a:srgbClr val="0000FF"/>
                </a:solidFill>
                <a:latin typeface="Trebuchet MS"/>
                <a:ea typeface="Trebuchet MS"/>
                <a:cs typeface="Trebuchet MS"/>
                <a:sym typeface="Trebuchet MS"/>
              </a:rPr>
              <a:t>https://</a:t>
            </a:r>
            <a:r>
              <a:rPr lang="en-GB" sz="700" b="0" i="0" u="sng" strike="noStrike" cap="none">
                <a:solidFill>
                  <a:srgbClr val="0000FF"/>
                </a:solidFill>
                <a:latin typeface="Trebuchet MS"/>
                <a:ea typeface="Trebuchet MS"/>
                <a:cs typeface="Trebuchet MS"/>
                <a:sym typeface="Trebuchet MS"/>
                <a:hlinkClick r:id="rId10">
                  <a:extLst>
                    <a:ext uri="{A12FA001-AC4F-418D-AE19-62706E023703}">
                      <ahyp:hlinkClr xmlns:ahyp="http://schemas.microsoft.com/office/drawing/2018/hyperlinkcolor" val="tx"/>
                    </a:ext>
                  </a:extLst>
                </a:hlinkClick>
              </a:rPr>
              <a:t>ucu.ac.ug</a:t>
            </a:r>
            <a:endParaRPr sz="700" b="0" i="0" u="sng" strike="noStrike" cap="none">
              <a:solidFill>
                <a:srgbClr val="0000FF"/>
              </a:solidFill>
              <a:latin typeface="Trebuchet MS"/>
              <a:ea typeface="Trebuchet MS"/>
              <a:cs typeface="Trebuchet MS"/>
              <a:sym typeface="Trebuchet MS"/>
            </a:endParaRPr>
          </a:p>
          <a:p>
            <a:pPr marL="0" marR="0" lvl="0" indent="0" algn="ctr" rtl="0">
              <a:lnSpc>
                <a:spcPct val="100000"/>
              </a:lnSpc>
              <a:spcBef>
                <a:spcPts val="0"/>
              </a:spcBef>
              <a:spcAft>
                <a:spcPts val="0"/>
              </a:spcAft>
              <a:buClr>
                <a:srgbClr val="000000"/>
              </a:buClr>
              <a:buSzPts val="650"/>
              <a:buFont typeface="Arial"/>
              <a:buNone/>
            </a:pPr>
            <a:r>
              <a:rPr lang="en-GB" sz="650" b="0" i="0" u="none" strike="noStrike" cap="none">
                <a:solidFill>
                  <a:schemeClr val="dk1"/>
                </a:solidFill>
                <a:latin typeface="Trebuchet MS"/>
                <a:ea typeface="Trebuchet MS"/>
                <a:cs typeface="Trebuchet MS"/>
                <a:sym typeface="Trebuchet MS"/>
              </a:rPr>
              <a:t>Founded by the Province of the Church of Uganda. Chartered by the Government of Uganda</a:t>
            </a:r>
            <a:endParaRPr sz="650" b="0" i="0" u="none" strike="noStrike" cap="none">
              <a:solidFill>
                <a:schemeClr val="dk1"/>
              </a:solidFill>
              <a:latin typeface="Trebuchet MS"/>
              <a:ea typeface="Trebuchet MS"/>
              <a:cs typeface="Trebuchet MS"/>
              <a:sym typeface="Trebuchet MS"/>
            </a:endParaRPr>
          </a:p>
        </p:txBody>
      </p:sp>
      <p:cxnSp>
        <p:nvCxnSpPr>
          <p:cNvPr id="19" name="Google Shape;19;p10"/>
          <p:cNvCxnSpPr/>
          <p:nvPr/>
        </p:nvCxnSpPr>
        <p:spPr>
          <a:xfrm>
            <a:off x="0" y="6395027"/>
            <a:ext cx="12192000" cy="0"/>
          </a:xfrm>
          <a:prstGeom prst="straightConnector1">
            <a:avLst/>
          </a:prstGeom>
          <a:noFill/>
          <a:ln w="12700" cap="flat" cmpd="sng">
            <a:solidFill>
              <a:srgbClr val="D70167"/>
            </a:solidFill>
            <a:prstDash val="solid"/>
            <a:miter lim="800000"/>
            <a:headEnd type="none" w="sm" len="sm"/>
            <a:tailEnd type="none" w="sm" len="sm"/>
          </a:ln>
        </p:spPr>
      </p:cxnSp>
      <p:pic>
        <p:nvPicPr>
          <p:cNvPr id="20" name="Google Shape;20;p10"/>
          <p:cNvPicPr preferRelativeResize="0"/>
          <p:nvPr/>
        </p:nvPicPr>
        <p:blipFill rotWithShape="1">
          <a:blip r:embed="rId11">
            <a:alphaModFix/>
          </a:blip>
          <a:srcRect b="42643"/>
          <a:stretch/>
        </p:blipFill>
        <p:spPr>
          <a:xfrm>
            <a:off x="0" y="5412967"/>
            <a:ext cx="1162289" cy="1445033"/>
          </a:xfrm>
          <a:prstGeom prst="rect">
            <a:avLst/>
          </a:prstGeom>
          <a:noFill/>
          <a:ln>
            <a:noFill/>
          </a:ln>
        </p:spPr>
      </p:pic>
      <p:sp>
        <p:nvSpPr>
          <p:cNvPr id="21" name="Google Shape;2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Trebuchet MS"/>
                <a:ea typeface="Trebuchet MS"/>
                <a:cs typeface="Trebuchet MS"/>
                <a:sym typeface="Trebuchet MS"/>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3" r:id="rId2"/>
    <p:sldLayoutId id="2147483654" r:id="rId3"/>
    <p:sldLayoutId id="2147483655" r:id="rId4"/>
    <p:sldLayoutId id="2147483656" r:id="rId5"/>
    <p:sldLayoutId id="2147483658"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subTitle" idx="1"/>
          </p:nvPr>
        </p:nvSpPr>
        <p:spPr>
          <a:xfrm>
            <a:off x="1524003" y="3733800"/>
            <a:ext cx="9144000" cy="1655762"/>
          </a:xfrm>
          <a:prstGeom prst="rect">
            <a:avLst/>
          </a:prstGeom>
          <a:noFill/>
          <a:ln>
            <a:noFill/>
          </a:ln>
        </p:spPr>
        <p:txBody>
          <a:bodyPr spcFirstLastPara="1" wrap="square" lIns="91425" tIns="45700" rIns="91425" bIns="45700" anchor="t" anchorCtr="0">
            <a:normAutofit/>
          </a:bodyPr>
          <a:lstStyle/>
          <a:p>
            <a:pPr marL="0" lvl="0" indent="0">
              <a:spcBef>
                <a:spcPts val="0"/>
              </a:spcBef>
            </a:pPr>
            <a:r>
              <a:rPr lang="en-US" dirty="0"/>
              <a:t>National Social Security Fund Verification Portal – Accessing data from Office of the Prime Minister –Department of Refugees Database.</a:t>
            </a:r>
          </a:p>
          <a:p>
            <a:pPr marL="0" lvl="0" indent="0">
              <a:spcBef>
                <a:spcPts val="0"/>
              </a:spcBef>
            </a:pPr>
            <a:endParaRPr dirty="0"/>
          </a:p>
        </p:txBody>
      </p:sp>
      <p:sp>
        <p:nvSpPr>
          <p:cNvPr id="103" name="Google Shape;103;p1"/>
          <p:cNvSpPr txBox="1"/>
          <p:nvPr/>
        </p:nvSpPr>
        <p:spPr>
          <a:xfrm>
            <a:off x="1" y="2156859"/>
            <a:ext cx="12191999" cy="1325563"/>
          </a:xfrm>
          <a:prstGeom prst="rect">
            <a:avLst/>
          </a:prstGeom>
          <a:solidFill>
            <a:srgbClr val="0A3D91"/>
          </a:solidFill>
          <a:ln w="9525" cap="flat" cmpd="sng">
            <a:solidFill>
              <a:srgbClr val="0A3D9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2800"/>
              <a:buFont typeface="Trebuchet MS"/>
              <a:buNone/>
            </a:pPr>
            <a:endParaRPr sz="2800" b="0" i="0" u="none" strike="noStrike" cap="none">
              <a:solidFill>
                <a:srgbClr val="FFFF00"/>
              </a:solidFill>
              <a:latin typeface="Trebuchet MS"/>
              <a:ea typeface="Trebuchet MS"/>
              <a:cs typeface="Trebuchet MS"/>
              <a:sym typeface="Trebuchet MS"/>
            </a:endParaRPr>
          </a:p>
        </p:txBody>
      </p:sp>
      <p:sp>
        <p:nvSpPr>
          <p:cNvPr id="104" name="Google Shape;104;p1"/>
          <p:cNvSpPr txBox="1"/>
          <p:nvPr/>
        </p:nvSpPr>
        <p:spPr>
          <a:xfrm>
            <a:off x="1" y="2181298"/>
            <a:ext cx="12191999" cy="889481"/>
          </a:xfrm>
          <a:prstGeom prst="rect">
            <a:avLst/>
          </a:prstGeom>
          <a:noFill/>
          <a:ln w="9525" cap="flat" cmpd="sng">
            <a:solidFill>
              <a:srgbClr val="0A3D91"/>
            </a:solidFill>
            <a:prstDash val="solid"/>
            <a:round/>
            <a:headEnd type="none" w="sm" len="sm"/>
            <a:tailEnd type="none" w="sm" len="sm"/>
          </a:ln>
        </p:spPr>
        <p:txBody>
          <a:bodyPr spcFirstLastPara="1" wrap="square" lIns="91425" tIns="45700" rIns="91425" bIns="45700" anchor="ctr" anchorCtr="0">
            <a:noAutofit/>
          </a:bodyPr>
          <a:lstStyle/>
          <a:p>
            <a:pPr algn="ctr">
              <a:lnSpc>
                <a:spcPct val="90000"/>
              </a:lnSpc>
            </a:pPr>
            <a:r>
              <a:rPr lang="en-GB" sz="4800" dirty="0">
                <a:solidFill>
                  <a:schemeClr val="lt1"/>
                </a:solidFill>
                <a:latin typeface="Trebuchet MS"/>
                <a:ea typeface="Trebuchet MS"/>
                <a:cs typeface="Trebuchet MS"/>
                <a:sym typeface="Trebuchet MS"/>
              </a:rPr>
              <a:t>Object Oriented Programming CSC8101</a:t>
            </a:r>
            <a:endParaRPr lang="en-GB" sz="4800" dirty="0">
              <a:solidFill>
                <a:schemeClr val="lt1"/>
              </a:solidFill>
              <a:latin typeface="Trebuchet MS"/>
            </a:endParaRPr>
          </a:p>
        </p:txBody>
      </p:sp>
      <p:sp>
        <p:nvSpPr>
          <p:cNvPr id="105" name="Google Shape;105;p1"/>
          <p:cNvSpPr txBox="1"/>
          <p:nvPr/>
        </p:nvSpPr>
        <p:spPr>
          <a:xfrm>
            <a:off x="-2" y="2819880"/>
            <a:ext cx="12191999" cy="609120"/>
          </a:xfrm>
          <a:prstGeom prst="rect">
            <a:avLst/>
          </a:prstGeom>
          <a:noFill/>
          <a:ln w="9525" cap="flat" cmpd="sng">
            <a:solidFill>
              <a:srgbClr val="0A3D91"/>
            </a:solidFill>
            <a:prstDash val="solid"/>
            <a:round/>
            <a:headEnd type="none" w="sm" len="sm"/>
            <a:tailEnd type="none" w="sm" len="sm"/>
          </a:ln>
        </p:spPr>
        <p:txBody>
          <a:bodyPr spcFirstLastPara="1" wrap="square" lIns="91425" tIns="45700" rIns="91425" bIns="45700" anchor="ctr" anchorCtr="0">
            <a:noAutofit/>
          </a:bodyPr>
          <a:lstStyle/>
          <a:p>
            <a:pPr lvl="0" algn="ctr">
              <a:lnSpc>
                <a:spcPct val="90000"/>
              </a:lnSpc>
              <a:buClr>
                <a:srgbClr val="FFFF00"/>
              </a:buClr>
              <a:buSzPts val="2800"/>
            </a:pPr>
            <a:r>
              <a:rPr lang="en-GB" sz="2800" b="0" i="0" u="none" strike="noStrike" cap="none" dirty="0">
                <a:solidFill>
                  <a:srgbClr val="FFFF00"/>
                </a:solidFill>
                <a:latin typeface="Trebuchet MS"/>
                <a:ea typeface="Trebuchet MS"/>
                <a:cs typeface="Trebuchet MS"/>
                <a:sym typeface="Trebuchet MS"/>
              </a:rPr>
              <a:t>Class Presentation Refugee Biodata Verification API System</a:t>
            </a:r>
            <a:endParaRPr sz="2800" b="0" i="0" u="none" strike="noStrike" cap="none" dirty="0">
              <a:solidFill>
                <a:srgbClr val="FFFF00"/>
              </a:solidFill>
              <a:latin typeface="Trebuchet MS"/>
              <a:ea typeface="Trebuchet MS"/>
              <a:cs typeface="Trebuchet MS"/>
              <a:sym typeface="Trebuchet MS"/>
            </a:endParaRPr>
          </a:p>
        </p:txBody>
      </p:sp>
      <p:sp>
        <p:nvSpPr>
          <p:cNvPr id="2" name="TextBox 1">
            <a:extLst>
              <a:ext uri="{FF2B5EF4-FFF2-40B4-BE49-F238E27FC236}">
                <a16:creationId xmlns:a16="http://schemas.microsoft.com/office/drawing/2014/main" id="{A4007E5F-FDE1-933A-9F99-82E2146ED2C5}"/>
              </a:ext>
            </a:extLst>
          </p:cNvPr>
          <p:cNvSpPr txBox="1"/>
          <p:nvPr/>
        </p:nvSpPr>
        <p:spPr>
          <a:xfrm>
            <a:off x="1523997" y="5344160"/>
            <a:ext cx="4572003" cy="738664"/>
          </a:xfrm>
          <a:prstGeom prst="rect">
            <a:avLst/>
          </a:prstGeom>
          <a:noFill/>
        </p:spPr>
        <p:txBody>
          <a:bodyPr wrap="square" rtlCol="0">
            <a:spAutoFit/>
          </a:bodyPr>
          <a:lstStyle/>
          <a:p>
            <a:r>
              <a:rPr lang="en-US" dirty="0"/>
              <a:t>Name: Noel Ikwap Access Number: B35094 Registration Number: S25M19/017 </a:t>
            </a:r>
          </a:p>
          <a:p>
            <a:r>
              <a:rPr lang="en-US" dirty="0"/>
              <a:t>Class: Master of Science in Data Science and Analytic </a:t>
            </a:r>
            <a:endParaRPr lang="en-UG"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Problem Context</a:t>
            </a:r>
          </a:p>
        </p:txBody>
      </p:sp>
      <p:sp>
        <p:nvSpPr>
          <p:cNvPr id="3" name="Content Placeholder 2"/>
          <p:cNvSpPr>
            <a:spLocks noGrp="1"/>
          </p:cNvSpPr>
          <p:nvPr>
            <p:ph idx="1"/>
          </p:nvPr>
        </p:nvSpPr>
        <p:spPr>
          <a:xfrm>
            <a:off x="838200" y="1687514"/>
            <a:ext cx="10515600" cy="4564430"/>
          </a:xfrm>
        </p:spPr>
        <p:txBody>
          <a:bodyPr>
            <a:normAutofit/>
          </a:bodyPr>
          <a:lstStyle/>
          <a:p>
            <a:r>
              <a:rPr lang="en-US" sz="3200" dirty="0"/>
              <a:t>The National Social Security Fund (NSSF) needs a secure, automated method to verify refugee identities.</a:t>
            </a:r>
          </a:p>
          <a:p>
            <a:r>
              <a:rPr lang="en-US" sz="3200" dirty="0"/>
              <a:t>Current verification via email is: Slow, Manual and error-prone, Not suitable for real-time systems</a:t>
            </a:r>
          </a:p>
          <a:p>
            <a:r>
              <a:rPr lang="en-US" sz="3200" dirty="0"/>
              <a:t>The solution: Create an API that connects NSSF systems directly to the Office of the Prime Minister’s (OPM) refugee databases:</a:t>
            </a:r>
            <a:endParaRPr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is this Project Important?</a:t>
            </a:r>
            <a:endParaRPr dirty="0"/>
          </a:p>
        </p:txBody>
      </p:sp>
      <p:sp>
        <p:nvSpPr>
          <p:cNvPr id="3" name="Content Placeholder 2"/>
          <p:cNvSpPr>
            <a:spLocks noGrp="1"/>
          </p:cNvSpPr>
          <p:nvPr>
            <p:ph idx="1"/>
          </p:nvPr>
        </p:nvSpPr>
        <p:spPr/>
        <p:txBody>
          <a:bodyPr>
            <a:normAutofit/>
          </a:bodyPr>
          <a:lstStyle/>
          <a:p>
            <a:r>
              <a:rPr lang="en-US" dirty="0"/>
              <a:t>Enables NSSF to open savings accounts for refugees legally working in Uganda.</a:t>
            </a:r>
          </a:p>
          <a:p>
            <a:r>
              <a:rPr lang="en-US" dirty="0"/>
              <a:t>Supports employers who remit monthly contributions.</a:t>
            </a:r>
          </a:p>
          <a:p>
            <a:r>
              <a:rPr lang="en-US" dirty="0"/>
              <a:t>Allows identity verification before money is deposited, especially for returning refugees.</a:t>
            </a:r>
          </a:p>
          <a:p>
            <a:r>
              <a:rPr lang="en-US" dirty="0"/>
              <a:t>Complies with: Uganda Data Protection and Privacy Act (2019), Security and confidentiality rules in the Terms of Reference</a:t>
            </a:r>
          </a:p>
          <a:p>
            <a:r>
              <a:rPr lang="en-US" dirty="0"/>
              <a:t>Protects sensitive refugee information.</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Project Scope</a:t>
            </a:r>
            <a:endParaRPr dirty="0"/>
          </a:p>
        </p:txBody>
      </p:sp>
      <p:sp>
        <p:nvSpPr>
          <p:cNvPr id="3" name="Content Placeholder 2"/>
          <p:cNvSpPr>
            <a:spLocks noGrp="1"/>
          </p:cNvSpPr>
          <p:nvPr>
            <p:ph idx="1"/>
          </p:nvPr>
        </p:nvSpPr>
        <p:spPr/>
        <p:txBody>
          <a:bodyPr>
            <a:normAutofit/>
          </a:bodyPr>
          <a:lstStyle/>
          <a:p>
            <a:r>
              <a:rPr lang="en-US" sz="3600" dirty="0"/>
              <a:t>Develop a </a:t>
            </a:r>
            <a:r>
              <a:rPr lang="en-US" sz="3600" dirty="0" err="1"/>
              <a:t>FlaskAPI</a:t>
            </a:r>
            <a:r>
              <a:rPr lang="en-US" sz="3600" dirty="0"/>
              <a:t> for verifying refugee biodata.</a:t>
            </a:r>
          </a:p>
          <a:p>
            <a:r>
              <a:rPr lang="en-US" sz="3600" dirty="0"/>
              <a:t>Create synthetic (fake) data resembling OPM’s databases.</a:t>
            </a:r>
          </a:p>
          <a:p>
            <a:r>
              <a:rPr lang="en-US" sz="3600" dirty="0"/>
              <a:t>Implement secure API key authentication.</a:t>
            </a:r>
          </a:p>
          <a:p>
            <a:r>
              <a:rPr lang="en-US" sz="3600" dirty="0"/>
              <a:t>Build verification logic returning: "Match“ "No Match“ Basic biodata fields</a:t>
            </a:r>
            <a:endParaRPr sz="3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Technical Approach</a:t>
            </a:r>
            <a:endParaRPr dirty="0"/>
          </a:p>
        </p:txBody>
      </p:sp>
      <p:sp>
        <p:nvSpPr>
          <p:cNvPr id="3" name="Content Placeholder 2"/>
          <p:cNvSpPr>
            <a:spLocks noGrp="1"/>
          </p:cNvSpPr>
          <p:nvPr>
            <p:ph idx="1"/>
          </p:nvPr>
        </p:nvSpPr>
        <p:spPr/>
        <p:txBody>
          <a:bodyPr>
            <a:normAutofit/>
          </a:bodyPr>
          <a:lstStyle/>
          <a:p>
            <a:r>
              <a:rPr lang="en-US" dirty="0"/>
              <a:t>Programming Language: Python</a:t>
            </a:r>
          </a:p>
          <a:p>
            <a:r>
              <a:rPr lang="en-US" dirty="0"/>
              <a:t>Framework: </a:t>
            </a:r>
            <a:r>
              <a:rPr lang="en-US" dirty="0" err="1"/>
              <a:t>FastAPI</a:t>
            </a:r>
            <a:endParaRPr lang="en-US" dirty="0"/>
          </a:p>
          <a:p>
            <a:r>
              <a:rPr lang="en-US" dirty="0"/>
              <a:t>Database: SQLite + </a:t>
            </a:r>
            <a:r>
              <a:rPr lang="en-US" dirty="0" err="1"/>
              <a:t>SQLAlchemy</a:t>
            </a:r>
            <a:endParaRPr lang="en-US" dirty="0"/>
          </a:p>
          <a:p>
            <a:r>
              <a:rPr lang="en-US" dirty="0"/>
              <a:t>Validation: </a:t>
            </a:r>
            <a:r>
              <a:rPr lang="en-US" dirty="0" err="1"/>
              <a:t>Pydantic</a:t>
            </a:r>
            <a:endParaRPr lang="en-US" dirty="0"/>
          </a:p>
          <a:p>
            <a:r>
              <a:rPr lang="en-US" dirty="0"/>
              <a:t>Server: </a:t>
            </a:r>
            <a:r>
              <a:rPr lang="en-US" dirty="0" err="1"/>
              <a:t>Uvicorn</a:t>
            </a:r>
            <a:endParaRPr lang="en-US" dirty="0"/>
          </a:p>
          <a:p>
            <a:r>
              <a:rPr lang="en-US" dirty="0"/>
              <a:t>Configuration: python-</a:t>
            </a:r>
            <a:r>
              <a:rPr lang="en-US" dirty="0" err="1"/>
              <a:t>dotenv</a:t>
            </a:r>
            <a:endParaRPr lang="en-US" dirty="0"/>
          </a:p>
          <a:p>
            <a:r>
              <a:rPr lang="en-US" dirty="0"/>
              <a:t>This combination ensures: Fast API performance, Easy data modeling, Strong validation, Lightweight deployment</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Database Design and Landing Page</a:t>
            </a:r>
            <a:endParaRPr dirty="0"/>
          </a:p>
        </p:txBody>
      </p:sp>
      <p:sp>
        <p:nvSpPr>
          <p:cNvPr id="3" name="Content Placeholder 2"/>
          <p:cNvSpPr>
            <a:spLocks noGrp="1"/>
          </p:cNvSpPr>
          <p:nvPr>
            <p:ph idx="1"/>
          </p:nvPr>
        </p:nvSpPr>
        <p:spPr/>
        <p:txBody>
          <a:bodyPr>
            <a:normAutofit fontScale="62500" lnSpcReduction="20000"/>
          </a:bodyPr>
          <a:lstStyle/>
          <a:p>
            <a:r>
              <a:rPr lang="en-US" dirty="0" err="1"/>
              <a:t>individual_number</a:t>
            </a:r>
            <a:endParaRPr lang="en-US" dirty="0"/>
          </a:p>
          <a:p>
            <a:r>
              <a:rPr lang="en-US" dirty="0" err="1"/>
              <a:t>process_status</a:t>
            </a:r>
            <a:endParaRPr lang="en-US" dirty="0"/>
          </a:p>
          <a:p>
            <a:r>
              <a:rPr lang="en-US" dirty="0" err="1"/>
              <a:t>family_group_number</a:t>
            </a:r>
            <a:endParaRPr lang="en-US" dirty="0"/>
          </a:p>
          <a:p>
            <a:r>
              <a:rPr lang="en-US" dirty="0" err="1"/>
              <a:t>full_name</a:t>
            </a:r>
            <a:endParaRPr lang="en-US" dirty="0"/>
          </a:p>
          <a:p>
            <a:r>
              <a:rPr lang="en-US" dirty="0" err="1"/>
              <a:t>family_size</a:t>
            </a:r>
            <a:endParaRPr lang="en-US" dirty="0"/>
          </a:p>
          <a:p>
            <a:r>
              <a:rPr lang="en-US" dirty="0"/>
              <a:t>age</a:t>
            </a:r>
          </a:p>
          <a:p>
            <a:r>
              <a:rPr lang="en-US" dirty="0"/>
              <a:t>gender</a:t>
            </a:r>
          </a:p>
          <a:p>
            <a:r>
              <a:rPr lang="en-US" dirty="0" err="1"/>
              <a:t>country_of_origin</a:t>
            </a:r>
            <a:endParaRPr lang="en-US" dirty="0"/>
          </a:p>
          <a:p>
            <a:r>
              <a:rPr lang="en-US" dirty="0" err="1"/>
              <a:t>legal_status</a:t>
            </a:r>
            <a:endParaRPr lang="en-US" dirty="0"/>
          </a:p>
          <a:p>
            <a:r>
              <a:rPr lang="en-US" dirty="0" err="1"/>
              <a:t>location_address</a:t>
            </a:r>
            <a:endParaRPr lang="en-US" dirty="0"/>
          </a:p>
          <a:p>
            <a:r>
              <a:rPr lang="en-US" dirty="0" err="1"/>
              <a:t>date_of_birth</a:t>
            </a:r>
            <a:endParaRPr lang="en-US" dirty="0"/>
          </a:p>
          <a:p>
            <a:r>
              <a:rPr lang="en-US" dirty="0" err="1"/>
              <a:t>registration_date</a:t>
            </a:r>
            <a:endParaRPr lang="en-US" dirty="0"/>
          </a:p>
          <a:p>
            <a:r>
              <a:rPr lang="en-US" dirty="0" err="1"/>
              <a:t>created_at</a:t>
            </a:r>
            <a:endParaRPr dirty="0"/>
          </a:p>
        </p:txBody>
      </p:sp>
      <p:pic>
        <p:nvPicPr>
          <p:cNvPr id="4" name="Content Placeholder 3">
            <a:extLst>
              <a:ext uri="{FF2B5EF4-FFF2-40B4-BE49-F238E27FC236}">
                <a16:creationId xmlns:a16="http://schemas.microsoft.com/office/drawing/2014/main" id="{E0669661-3B90-8D8F-40EA-6FB05A71EB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1585912"/>
            <a:ext cx="5660104" cy="468280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65126"/>
            <a:ext cx="11201400" cy="1143000"/>
          </a:xfrm>
        </p:spPr>
        <p:txBody>
          <a:bodyPr>
            <a:normAutofit fontScale="90000"/>
          </a:bodyPr>
          <a:lstStyle/>
          <a:p>
            <a:r>
              <a:rPr lang="en-US" dirty="0"/>
              <a:t>How the APP handles Closed cases illustration</a:t>
            </a:r>
            <a:endParaRPr dirty="0"/>
          </a:p>
        </p:txBody>
      </p:sp>
      <p:pic>
        <p:nvPicPr>
          <p:cNvPr id="8" name="Content Placeholder 7">
            <a:extLst>
              <a:ext uri="{FF2B5EF4-FFF2-40B4-BE49-F238E27FC236}">
                <a16:creationId xmlns:a16="http://schemas.microsoft.com/office/drawing/2014/main" id="{EA423D26-7E19-92A5-7939-32BED35614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410960" y="1707833"/>
            <a:ext cx="5781040" cy="4489450"/>
          </a:xfrm>
          <a:prstGeom prst="rect">
            <a:avLst/>
          </a:prstGeom>
        </p:spPr>
      </p:pic>
      <p:sp>
        <p:nvSpPr>
          <p:cNvPr id="9" name="TextBox 8">
            <a:extLst>
              <a:ext uri="{FF2B5EF4-FFF2-40B4-BE49-F238E27FC236}">
                <a16:creationId xmlns:a16="http://schemas.microsoft.com/office/drawing/2014/main" id="{64935EAC-7571-F358-5A20-C88645530914}"/>
              </a:ext>
            </a:extLst>
          </p:cNvPr>
          <p:cNvSpPr txBox="1"/>
          <p:nvPr/>
        </p:nvSpPr>
        <p:spPr>
          <a:xfrm>
            <a:off x="0" y="1707833"/>
            <a:ext cx="6309360" cy="5047536"/>
          </a:xfrm>
          <a:prstGeom prst="rect">
            <a:avLst/>
          </a:prstGeom>
          <a:noFill/>
        </p:spPr>
        <p:txBody>
          <a:bodyPr wrap="square" rtlCol="0">
            <a:spAutoFit/>
          </a:bodyPr>
          <a:lstStyle/>
          <a:p>
            <a:r>
              <a:rPr lang="en-UG" sz="2800" dirty="0"/>
              <a:t>If the case has a process status of closed, irrespective whether they are refugees or asylum seekers, it rejects the case and returns a message saying individual is </a:t>
            </a:r>
            <a:r>
              <a:rPr lang="en-UG" sz="2800" dirty="0" err="1"/>
              <a:t>nolonger</a:t>
            </a:r>
            <a:r>
              <a:rPr lang="en-UG" sz="2800" dirty="0"/>
              <a:t> a refugee in Uganda. Process status is closed meaning they </a:t>
            </a:r>
            <a:r>
              <a:rPr lang="en-UG" sz="2800" dirty="0" err="1"/>
              <a:t>nolonger</a:t>
            </a:r>
            <a:r>
              <a:rPr lang="en-UG" sz="2800" dirty="0"/>
              <a:t> enjoy protection of the Ugandan government hence they do not qualify for any services in Uganda including NSSF. Snapshot below shows that pop-up.</a:t>
            </a:r>
          </a:p>
          <a:p>
            <a:endParaRPr lang="en-UG"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it handles Asylum Seekers</a:t>
            </a:r>
            <a:endParaRPr dirty="0"/>
          </a:p>
        </p:txBody>
      </p:sp>
      <p:pic>
        <p:nvPicPr>
          <p:cNvPr id="4" name="Content Placeholder 3">
            <a:extLst>
              <a:ext uri="{FF2B5EF4-FFF2-40B4-BE49-F238E27FC236}">
                <a16:creationId xmlns:a16="http://schemas.microsoft.com/office/drawing/2014/main" id="{2A0CA6EC-50D0-D219-916A-6932DBDD340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1713139"/>
            <a:ext cx="6390640" cy="4697821"/>
          </a:xfrm>
          <a:prstGeom prst="rect">
            <a:avLst/>
          </a:prstGeom>
        </p:spPr>
      </p:pic>
      <p:sp>
        <p:nvSpPr>
          <p:cNvPr id="5" name="TextBox 4">
            <a:extLst>
              <a:ext uri="{FF2B5EF4-FFF2-40B4-BE49-F238E27FC236}">
                <a16:creationId xmlns:a16="http://schemas.microsoft.com/office/drawing/2014/main" id="{B020773A-0F11-BFEB-10C4-2D02537B25C7}"/>
              </a:ext>
            </a:extLst>
          </p:cNvPr>
          <p:cNvSpPr txBox="1"/>
          <p:nvPr/>
        </p:nvSpPr>
        <p:spPr>
          <a:xfrm>
            <a:off x="6390640" y="1713139"/>
            <a:ext cx="5801360" cy="4001095"/>
          </a:xfrm>
          <a:prstGeom prst="rect">
            <a:avLst/>
          </a:prstGeom>
          <a:noFill/>
        </p:spPr>
        <p:txBody>
          <a:bodyPr wrap="square" rtlCol="0">
            <a:spAutoFit/>
          </a:bodyPr>
          <a:lstStyle/>
          <a:p>
            <a:r>
              <a:rPr lang="en-UG" sz="2400" dirty="0"/>
              <a:t>If the case is Active (</a:t>
            </a:r>
            <a:r>
              <a:rPr lang="en-UG" sz="2400" dirty="0" err="1"/>
              <a:t>process_status</a:t>
            </a:r>
            <a:r>
              <a:rPr lang="en-UG" sz="2400" dirty="0"/>
              <a:t>) and </a:t>
            </a:r>
            <a:r>
              <a:rPr lang="en-UG" sz="2400" dirty="0" err="1"/>
              <a:t>legal_status</a:t>
            </a:r>
            <a:r>
              <a:rPr lang="en-UG" sz="2400" dirty="0"/>
              <a:t> is an Asylum seeker it displays “case found -Asylum seeker and since Asylum seekers are not eligible for NSSF Numbers, it says “individual is not eligible for NSSF Number because he is an asylum seeker, asylum seekers must complete the refugee status determination process. It rejects the case nevertheless.</a:t>
            </a:r>
          </a:p>
          <a:p>
            <a:endParaRPr lang="en-UG"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If case is Active Refugee</a:t>
            </a:r>
            <a:endParaRPr dirty="0"/>
          </a:p>
        </p:txBody>
      </p:sp>
      <p:pic>
        <p:nvPicPr>
          <p:cNvPr id="4" name="Content Placeholder 3">
            <a:extLst>
              <a:ext uri="{FF2B5EF4-FFF2-40B4-BE49-F238E27FC236}">
                <a16:creationId xmlns:a16="http://schemas.microsoft.com/office/drawing/2014/main" id="{A35EFE4D-3285-0E04-4237-A525B79DD3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691" y="1677353"/>
            <a:ext cx="4424189" cy="4489450"/>
          </a:xfrm>
          <a:prstGeom prst="rect">
            <a:avLst/>
          </a:prstGeom>
        </p:spPr>
      </p:pic>
      <p:pic>
        <p:nvPicPr>
          <p:cNvPr id="5" name="Picture 4">
            <a:extLst>
              <a:ext uri="{FF2B5EF4-FFF2-40B4-BE49-F238E27FC236}">
                <a16:creationId xmlns:a16="http://schemas.microsoft.com/office/drawing/2014/main" id="{F070648C-F749-8AA7-6FCB-DD65742A0E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0880" y="1677353"/>
            <a:ext cx="4272772" cy="4484370"/>
          </a:xfrm>
          <a:prstGeom prst="rect">
            <a:avLst/>
          </a:prstGeom>
        </p:spPr>
      </p:pic>
      <p:pic>
        <p:nvPicPr>
          <p:cNvPr id="6" name="Picture 5">
            <a:extLst>
              <a:ext uri="{FF2B5EF4-FFF2-40B4-BE49-F238E27FC236}">
                <a16:creationId xmlns:a16="http://schemas.microsoft.com/office/drawing/2014/main" id="{BE36B25C-67B9-7D10-DA0A-3A1B69B656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24240" y="1677353"/>
            <a:ext cx="3789680" cy="44843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Minors handling</a:t>
            </a:r>
            <a:endParaRPr dirty="0"/>
          </a:p>
        </p:txBody>
      </p:sp>
      <p:pic>
        <p:nvPicPr>
          <p:cNvPr id="4" name="Content Placeholder 3" descr="A screenshot of a computer&#10;&#10;AI-generated content may be incorrect.">
            <a:extLst>
              <a:ext uri="{FF2B5EF4-FFF2-40B4-BE49-F238E27FC236}">
                <a16:creationId xmlns:a16="http://schemas.microsoft.com/office/drawing/2014/main" id="{983F2AE1-58F8-4EA1-CED9-7C9A1F7C316B}"/>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383280" y="1692584"/>
            <a:ext cx="8679549" cy="4626936"/>
          </a:xfrm>
          <a:prstGeom prst="rect">
            <a:avLst/>
          </a:prstGeom>
        </p:spPr>
      </p:pic>
      <p:sp>
        <p:nvSpPr>
          <p:cNvPr id="5" name="TextBox 4">
            <a:extLst>
              <a:ext uri="{FF2B5EF4-FFF2-40B4-BE49-F238E27FC236}">
                <a16:creationId xmlns:a16="http://schemas.microsoft.com/office/drawing/2014/main" id="{999E2FA3-19C8-81B7-D5DE-A6DBBD5F3AB0}"/>
              </a:ext>
            </a:extLst>
          </p:cNvPr>
          <p:cNvSpPr txBox="1"/>
          <p:nvPr/>
        </p:nvSpPr>
        <p:spPr>
          <a:xfrm>
            <a:off x="0" y="1686560"/>
            <a:ext cx="3352800" cy="4154984"/>
          </a:xfrm>
          <a:prstGeom prst="rect">
            <a:avLst/>
          </a:prstGeom>
          <a:noFill/>
        </p:spPr>
        <p:txBody>
          <a:bodyPr wrap="square" rtlCol="0">
            <a:spAutoFit/>
          </a:bodyPr>
          <a:lstStyle/>
          <a:p>
            <a:r>
              <a:rPr lang="en-UG" sz="2400" dirty="0" err="1"/>
              <a:t>Incase</a:t>
            </a:r>
            <a:r>
              <a:rPr lang="en-UG" sz="2400" dirty="0"/>
              <a:t> one needs to view the number of cases issued with </a:t>
            </a:r>
            <a:r>
              <a:rPr lang="en-UG" sz="2400" dirty="0" err="1"/>
              <a:t>Nssf</a:t>
            </a:r>
            <a:r>
              <a:rPr lang="en-UG" sz="2400" dirty="0"/>
              <a:t> numbers, they can click the view report link at the top right corner of the application to view the report and the report will be displayed as seen below.</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Q&amp;A</a:t>
            </a:r>
          </a:p>
        </p:txBody>
      </p:sp>
      <p:sp>
        <p:nvSpPr>
          <p:cNvPr id="3" name="Content Placeholder 2"/>
          <p:cNvSpPr>
            <a:spLocks noGrp="1"/>
          </p:cNvSpPr>
          <p:nvPr>
            <p:ph idx="1"/>
          </p:nvPr>
        </p:nvSpPr>
        <p:spPr/>
        <p:txBody>
          <a:bodyPr/>
          <a:lstStyle/>
          <a:p>
            <a:r>
              <a:rPr dirty="0"/>
              <a:t>Thank you!</a:t>
            </a:r>
          </a:p>
        </p:txBody>
      </p:sp>
    </p:spTree>
  </p:cSld>
  <p:clrMapOvr>
    <a:masterClrMapping/>
  </p:clrMapOvr>
</p:sld>
</file>

<file path=ppt/theme/theme1.xml><?xml version="1.0" encoding="utf-8"?>
<a:theme xmlns:a="http://schemas.openxmlformats.org/drawingml/2006/main" name="Office Theme">
  <a:themeElements>
    <a:clrScheme name="Median">
      <a:dk1>
        <a:srgbClr val="000000"/>
      </a:dk1>
      <a:lt1>
        <a:srgbClr val="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1510</TotalTime>
  <Words>516</Words>
  <Application>Microsoft Office PowerPoint</Application>
  <PresentationFormat>Widescreen</PresentationFormat>
  <Paragraphs>52</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Trebuchet MS</vt:lpstr>
      <vt:lpstr>Noto Sans Symbols</vt:lpstr>
      <vt:lpstr>Calibri</vt:lpstr>
      <vt:lpstr>Office Theme</vt:lpstr>
      <vt:lpstr>PowerPoint Presentation</vt:lpstr>
      <vt:lpstr>The Problem Context</vt:lpstr>
      <vt:lpstr>Why is this Project Important?</vt:lpstr>
      <vt:lpstr>Project Scope</vt:lpstr>
      <vt:lpstr>Technical Approach</vt:lpstr>
      <vt:lpstr>Database Design and Landing Page</vt:lpstr>
      <vt:lpstr>How the APP handles Closed cases illustration</vt:lpstr>
      <vt:lpstr>How it handles Asylum Seekers</vt:lpstr>
      <vt:lpstr>If case is Active Refugee</vt:lpstr>
      <vt:lpstr>Minors handling</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Noel Ikwap</cp:lastModifiedBy>
  <cp:revision>38</cp:revision>
  <dcterms:created xsi:type="dcterms:W3CDTF">2023-08-23T08:11:39Z</dcterms:created>
  <dcterms:modified xsi:type="dcterms:W3CDTF">2025-12-12T10:03:40Z</dcterms:modified>
</cp:coreProperties>
</file>